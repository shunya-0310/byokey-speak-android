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875520" cy="1755648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875520" cy="17556480"/>
          </a:xfrm>
          <a:prstGeom prst="rect">
            <a:avLst/>
          </a:prstGeom>
          <a:solidFill>
            <a:srgbClr val="F2E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640080"/>
            <a:ext cx="9875520" cy="73152"/>
          </a:xfrm>
          <a:prstGeom prst="line">
            <a:avLst/>
          </a:prstGeom>
          <a:ln w="7620">
            <a:solidFill>
              <a:srgbClr val="D9C6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737360"/>
            <a:ext cx="9875520" cy="73152"/>
          </a:xfrm>
          <a:prstGeom prst="line">
            <a:avLst/>
          </a:prstGeom>
          <a:ln w="7620">
            <a:solidFill>
              <a:srgbClr val="D9C6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2834640"/>
            <a:ext cx="9875520" cy="73152"/>
          </a:xfrm>
          <a:prstGeom prst="line">
            <a:avLst/>
          </a:prstGeom>
          <a:ln w="7620">
            <a:solidFill>
              <a:srgbClr val="D9C6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3931920"/>
            <a:ext cx="9875520" cy="73152"/>
          </a:xfrm>
          <a:prstGeom prst="line">
            <a:avLst/>
          </a:prstGeom>
          <a:ln w="7620">
            <a:solidFill>
              <a:srgbClr val="D9C6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5029200"/>
            <a:ext cx="9875520" cy="73152"/>
          </a:xfrm>
          <a:prstGeom prst="line">
            <a:avLst/>
          </a:prstGeom>
          <a:ln w="7620">
            <a:solidFill>
              <a:srgbClr val="D9C6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6126480"/>
            <a:ext cx="9875520" cy="73152"/>
          </a:xfrm>
          <a:prstGeom prst="line">
            <a:avLst/>
          </a:prstGeom>
          <a:ln w="7620">
            <a:solidFill>
              <a:srgbClr val="D9C6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7223760"/>
            <a:ext cx="9875520" cy="73152"/>
          </a:xfrm>
          <a:prstGeom prst="line">
            <a:avLst/>
          </a:prstGeom>
          <a:ln w="7620">
            <a:solidFill>
              <a:srgbClr val="D9C6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8321040"/>
            <a:ext cx="9875520" cy="73152"/>
          </a:xfrm>
          <a:prstGeom prst="line">
            <a:avLst/>
          </a:prstGeom>
          <a:ln w="7620">
            <a:solidFill>
              <a:srgbClr val="D9C6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9418320"/>
            <a:ext cx="9875520" cy="73152"/>
          </a:xfrm>
          <a:prstGeom prst="line">
            <a:avLst/>
          </a:prstGeom>
          <a:ln w="7620">
            <a:solidFill>
              <a:srgbClr val="D9C6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10515600"/>
            <a:ext cx="9875520" cy="73152"/>
          </a:xfrm>
          <a:prstGeom prst="line">
            <a:avLst/>
          </a:prstGeom>
          <a:ln w="7620">
            <a:solidFill>
              <a:srgbClr val="D9C6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11612880"/>
            <a:ext cx="9875520" cy="73152"/>
          </a:xfrm>
          <a:prstGeom prst="line">
            <a:avLst/>
          </a:prstGeom>
          <a:ln w="7620">
            <a:solidFill>
              <a:srgbClr val="D9C6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12710160"/>
            <a:ext cx="9875520" cy="73152"/>
          </a:xfrm>
          <a:prstGeom prst="line">
            <a:avLst/>
          </a:prstGeom>
          <a:ln w="7620">
            <a:solidFill>
              <a:srgbClr val="D9C6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13807440"/>
            <a:ext cx="9875520" cy="73152"/>
          </a:xfrm>
          <a:prstGeom prst="line">
            <a:avLst/>
          </a:prstGeom>
          <a:ln w="7620">
            <a:solidFill>
              <a:srgbClr val="D9C6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14904720"/>
            <a:ext cx="9875520" cy="73152"/>
          </a:xfrm>
          <a:prstGeom prst="line">
            <a:avLst/>
          </a:prstGeom>
          <a:ln w="7620">
            <a:solidFill>
              <a:srgbClr val="D9C6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16002000"/>
            <a:ext cx="9875520" cy="73151"/>
          </a:xfrm>
          <a:prstGeom prst="line">
            <a:avLst/>
          </a:prstGeom>
          <a:ln w="7620">
            <a:solidFill>
              <a:srgbClr val="D9C6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17099280"/>
            <a:ext cx="9875520" cy="73152"/>
          </a:xfrm>
          <a:prstGeom prst="line">
            <a:avLst/>
          </a:prstGeom>
          <a:ln w="7620">
            <a:solidFill>
              <a:srgbClr val="D9C6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275320" y="1005840"/>
            <a:ext cx="27432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A57C2D"/>
                </a:solidFill>
                <a:latin typeface="Noto Serif JP"/>
              </a:rPr>
              <a:t>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2286000"/>
            <a:ext cx="27432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A57C2D"/>
                </a:solidFill>
                <a:latin typeface="Noto Serif JP"/>
              </a:rPr>
              <a:t>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4023360"/>
            <a:ext cx="27432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5B6E51"/>
                </a:solidFill>
                <a:latin typeface="Noto Serif JP"/>
              </a:rPr>
              <a:t>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14081760"/>
            <a:ext cx="27432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B15C4D"/>
                </a:solidFill>
                <a:latin typeface="Noto Serif JP"/>
              </a:rPr>
              <a:t>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40" y="15544800"/>
            <a:ext cx="27432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A57C2D"/>
                </a:solidFill>
                <a:latin typeface="Noto Serif JP"/>
              </a:rPr>
              <a:t>✦</a:t>
            </a:r>
          </a:p>
        </p:txBody>
      </p:sp>
      <p:pic>
        <p:nvPicPr>
          <p:cNvPr id="24" name="Picture 23" descr="assets-keyho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548640"/>
            <a:ext cx="721342" cy="102412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737360" y="621792"/>
            <a:ext cx="457200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3300" b="1">
                <a:solidFill>
                  <a:srgbClr val="30271F"/>
                </a:solidFill>
                <a:latin typeface="Noto Serif JP"/>
              </a:rPr>
              <a:t>BYOKey Speak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55648" y="1078992"/>
            <a:ext cx="4480560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74541F"/>
                </a:solidFill>
                <a:latin typeface="Noto Serif JP"/>
              </a:rPr>
              <a:t>The key is in your hand.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1810512"/>
            <a:ext cx="1097280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1">
                <a:solidFill>
                  <a:srgbClr val="74541F"/>
                </a:solidFill>
                <a:latin typeface="Noto Serif JP"/>
              </a:rPr>
              <a:t>1/5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2523744"/>
            <a:ext cx="8412480" cy="7132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4500" b="1">
                <a:solidFill>
                  <a:srgbClr val="30271F"/>
                </a:solidFill>
                <a:latin typeface="Noto Sans JP"/>
              </a:rPr>
              <a:t>英語で話す。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3236976"/>
            <a:ext cx="8412480" cy="7132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4500" b="1">
                <a:solidFill>
                  <a:srgbClr val="30271F"/>
                </a:solidFill>
                <a:latin typeface="Noto Sans JP"/>
              </a:rPr>
              <a:t>言葉に詰まっても、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3950208"/>
            <a:ext cx="8412480" cy="7132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4500" b="1">
                <a:solidFill>
                  <a:srgbClr val="B15C4D"/>
                </a:solidFill>
                <a:latin typeface="Noto Sans JP"/>
              </a:rPr>
              <a:t>日本語で聞ける。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58368" y="4736592"/>
            <a:ext cx="4096512" cy="0"/>
          </a:xfrm>
          <a:prstGeom prst="line">
            <a:avLst/>
          </a:prstGeom>
          <a:ln w="50800">
            <a:solidFill>
              <a:srgbClr val="7454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58368" y="5376672"/>
            <a:ext cx="7132320" cy="7132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5F4F3D"/>
                </a:solidFill>
                <a:latin typeface="Noto Sans JP"/>
              </a:rPr>
              <a:t>先生に相談するように、そのまま会話を続けられます。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377440" y="6986016"/>
            <a:ext cx="5449824" cy="12573000"/>
          </a:xfrm>
          <a:prstGeom prst="roundRect">
            <a:avLst/>
          </a:prstGeom>
          <a:solidFill>
            <a:srgbClr val="BAA9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2212848" y="6766560"/>
            <a:ext cx="5449824" cy="12573000"/>
          </a:xfrm>
          <a:prstGeom prst="roundRect">
            <a:avLst/>
          </a:prstGeom>
          <a:solidFill>
            <a:srgbClr val="2C2723"/>
          </a:solidFill>
          <a:ln w="38100">
            <a:solidFill>
              <a:srgbClr val="7454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2432304" y="6986016"/>
            <a:ext cx="5010912" cy="12134088"/>
          </a:xfrm>
          <a:prstGeom prst="roundRect">
            <a:avLst/>
          </a:prstGeom>
          <a:solidFill>
            <a:srgbClr val="FAF4E4"/>
          </a:solidFill>
          <a:ln w="16510">
            <a:solidFill>
              <a:srgbClr val="A57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4096512" y="6967728"/>
            <a:ext cx="1682496" cy="164592"/>
          </a:xfrm>
          <a:prstGeom prst="roundRect">
            <a:avLst/>
          </a:prstGeom>
          <a:solidFill>
            <a:srgbClr val="403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2670048" y="7406640"/>
            <a:ext cx="4535424" cy="11201400"/>
          </a:xfrm>
          <a:prstGeom prst="roundRect">
            <a:avLst/>
          </a:prstGeom>
          <a:solidFill>
            <a:srgbClr val="FFFBF0"/>
          </a:solidFill>
          <a:ln w="15240">
            <a:solidFill>
              <a:srgbClr val="D3B5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962656" y="7754112"/>
            <a:ext cx="3950208" cy="4389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500" b="1">
                <a:solidFill>
                  <a:srgbClr val="74541F"/>
                </a:solidFill>
                <a:latin typeface="Noto Sans JP"/>
              </a:rPr>
              <a:t>通常チャット画面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2962656" y="8321040"/>
            <a:ext cx="3950208" cy="0"/>
          </a:xfrm>
          <a:prstGeom prst="line">
            <a:avLst/>
          </a:prstGeom>
          <a:ln w="20320">
            <a:solidFill>
              <a:srgbClr val="A57C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2962656" y="8741664"/>
            <a:ext cx="3950208" cy="1170432"/>
          </a:xfrm>
          <a:prstGeom prst="roundRect">
            <a:avLst/>
          </a:prstGeom>
          <a:solidFill>
            <a:srgbClr val="F7EEDA"/>
          </a:solidFill>
          <a:ln w="15875">
            <a:solidFill>
              <a:srgbClr val="A57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200400" y="8942832"/>
            <a:ext cx="3474720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74541F"/>
                </a:solidFill>
                <a:latin typeface="Noto Sans JP"/>
              </a:rPr>
              <a:t>英語の会話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00400" y="9272016"/>
            <a:ext cx="3474720" cy="5669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30271F"/>
                </a:solidFill>
                <a:latin typeface="Noto Sans JP"/>
              </a:rPr>
              <a:t>I missed the train.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962656" y="10168128"/>
            <a:ext cx="3950208" cy="1170432"/>
          </a:xfrm>
          <a:prstGeom prst="roundRect">
            <a:avLst/>
          </a:prstGeom>
          <a:solidFill>
            <a:srgbClr val="F7EEDA"/>
          </a:solidFill>
          <a:ln w="15875">
            <a:solidFill>
              <a:srgbClr val="A57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200400" y="10369296"/>
            <a:ext cx="3474720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74541F"/>
                </a:solidFill>
                <a:latin typeface="Noto Sans JP"/>
              </a:rPr>
              <a:t>日本語で相談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200400" y="10698480"/>
            <a:ext cx="3474720" cy="5669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30271F"/>
                </a:solidFill>
                <a:latin typeface="Noto Sans JP"/>
              </a:rPr>
              <a:t>“乗り遅れた”って自然に言うと？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962656" y="11594592"/>
            <a:ext cx="3950208" cy="1170432"/>
          </a:xfrm>
          <a:prstGeom prst="roundRect">
            <a:avLst/>
          </a:prstGeom>
          <a:solidFill>
            <a:srgbClr val="F7EEDA"/>
          </a:solidFill>
          <a:ln w="15875">
            <a:solidFill>
              <a:srgbClr val="A57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200400" y="11795760"/>
            <a:ext cx="3474720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74541F"/>
                </a:solidFill>
                <a:latin typeface="Noto Sans JP"/>
              </a:rPr>
              <a:t>コーチの返答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200400" y="12124944"/>
            <a:ext cx="3474720" cy="5669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30271F"/>
                </a:solidFill>
                <a:latin typeface="Noto Sans JP"/>
              </a:rPr>
              <a:t>英語表現＋日本語の短い説明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090672" y="16989552"/>
            <a:ext cx="3694176" cy="530352"/>
          </a:xfrm>
          <a:prstGeom prst="roundRect">
            <a:avLst/>
          </a:prstGeom>
          <a:solidFill>
            <a:srgbClr val="EEE1C1"/>
          </a:solidFill>
          <a:ln w="12700">
            <a:solidFill>
              <a:srgbClr val="A57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383280" y="17126712"/>
            <a:ext cx="310896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5F4F3D"/>
                </a:solidFill>
                <a:latin typeface="Noto Sans JP"/>
              </a:rPr>
              <a:t>ここに実画面スクショを差し替え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58368" y="16166592"/>
            <a:ext cx="5669280" cy="530352"/>
          </a:xfrm>
          <a:prstGeom prst="roundRect">
            <a:avLst/>
          </a:prstGeom>
          <a:solidFill>
            <a:srgbClr val="FFF9E8"/>
          </a:solidFill>
          <a:ln w="20320">
            <a:solidFill>
              <a:srgbClr val="7454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77824" y="16285463"/>
            <a:ext cx="5230368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2000" b="1">
                <a:solidFill>
                  <a:srgbClr val="30271F"/>
                </a:solidFill>
                <a:latin typeface="Noto Sans JP"/>
              </a:rPr>
              <a:t>アプリは買い切り｜AI利用料は使った分だけ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875520" cy="17556480"/>
          </a:xfrm>
          <a:prstGeom prst="rect">
            <a:avLst/>
          </a:prstGeom>
          <a:solidFill>
            <a:srgbClr val="F2E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640080"/>
            <a:ext cx="9875520" cy="73152"/>
          </a:xfrm>
          <a:prstGeom prst="line">
            <a:avLst/>
          </a:prstGeom>
          <a:ln w="7620">
            <a:solidFill>
              <a:srgbClr val="D9C6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737360"/>
            <a:ext cx="9875520" cy="73152"/>
          </a:xfrm>
          <a:prstGeom prst="line">
            <a:avLst/>
          </a:prstGeom>
          <a:ln w="7620">
            <a:solidFill>
              <a:srgbClr val="D9C6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2834640"/>
            <a:ext cx="9875520" cy="73152"/>
          </a:xfrm>
          <a:prstGeom prst="line">
            <a:avLst/>
          </a:prstGeom>
          <a:ln w="7620">
            <a:solidFill>
              <a:srgbClr val="D9C6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3931920"/>
            <a:ext cx="9875520" cy="73152"/>
          </a:xfrm>
          <a:prstGeom prst="line">
            <a:avLst/>
          </a:prstGeom>
          <a:ln w="7620">
            <a:solidFill>
              <a:srgbClr val="D9C6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5029200"/>
            <a:ext cx="9875520" cy="73152"/>
          </a:xfrm>
          <a:prstGeom prst="line">
            <a:avLst/>
          </a:prstGeom>
          <a:ln w="7620">
            <a:solidFill>
              <a:srgbClr val="D9C6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6126480"/>
            <a:ext cx="9875520" cy="73152"/>
          </a:xfrm>
          <a:prstGeom prst="line">
            <a:avLst/>
          </a:prstGeom>
          <a:ln w="7620">
            <a:solidFill>
              <a:srgbClr val="D9C6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7223760"/>
            <a:ext cx="9875520" cy="73152"/>
          </a:xfrm>
          <a:prstGeom prst="line">
            <a:avLst/>
          </a:prstGeom>
          <a:ln w="7620">
            <a:solidFill>
              <a:srgbClr val="D9C6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8321040"/>
            <a:ext cx="9875520" cy="73152"/>
          </a:xfrm>
          <a:prstGeom prst="line">
            <a:avLst/>
          </a:prstGeom>
          <a:ln w="7620">
            <a:solidFill>
              <a:srgbClr val="D9C6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9418320"/>
            <a:ext cx="9875520" cy="73152"/>
          </a:xfrm>
          <a:prstGeom prst="line">
            <a:avLst/>
          </a:prstGeom>
          <a:ln w="7620">
            <a:solidFill>
              <a:srgbClr val="D9C6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10515600"/>
            <a:ext cx="9875520" cy="73152"/>
          </a:xfrm>
          <a:prstGeom prst="line">
            <a:avLst/>
          </a:prstGeom>
          <a:ln w="7620">
            <a:solidFill>
              <a:srgbClr val="D9C6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11612880"/>
            <a:ext cx="9875520" cy="73152"/>
          </a:xfrm>
          <a:prstGeom prst="line">
            <a:avLst/>
          </a:prstGeom>
          <a:ln w="7620">
            <a:solidFill>
              <a:srgbClr val="D9C6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12710160"/>
            <a:ext cx="9875520" cy="73152"/>
          </a:xfrm>
          <a:prstGeom prst="line">
            <a:avLst/>
          </a:prstGeom>
          <a:ln w="7620">
            <a:solidFill>
              <a:srgbClr val="D9C6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13807440"/>
            <a:ext cx="9875520" cy="73152"/>
          </a:xfrm>
          <a:prstGeom prst="line">
            <a:avLst/>
          </a:prstGeom>
          <a:ln w="7620">
            <a:solidFill>
              <a:srgbClr val="D9C6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14904720"/>
            <a:ext cx="9875520" cy="73152"/>
          </a:xfrm>
          <a:prstGeom prst="line">
            <a:avLst/>
          </a:prstGeom>
          <a:ln w="7620">
            <a:solidFill>
              <a:srgbClr val="D9C6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16002000"/>
            <a:ext cx="9875520" cy="73151"/>
          </a:xfrm>
          <a:prstGeom prst="line">
            <a:avLst/>
          </a:prstGeom>
          <a:ln w="7620">
            <a:solidFill>
              <a:srgbClr val="D9C6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17099280"/>
            <a:ext cx="9875520" cy="73152"/>
          </a:xfrm>
          <a:prstGeom prst="line">
            <a:avLst/>
          </a:prstGeom>
          <a:ln w="7620">
            <a:solidFill>
              <a:srgbClr val="D9C6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275320" y="1005840"/>
            <a:ext cx="27432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A57C2D"/>
                </a:solidFill>
                <a:latin typeface="Noto Serif JP"/>
              </a:rPr>
              <a:t>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2286000"/>
            <a:ext cx="27432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A57C2D"/>
                </a:solidFill>
                <a:latin typeface="Noto Serif JP"/>
              </a:rPr>
              <a:t>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4023360"/>
            <a:ext cx="27432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5B6E51"/>
                </a:solidFill>
                <a:latin typeface="Noto Serif JP"/>
              </a:rPr>
              <a:t>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14081760"/>
            <a:ext cx="27432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B15C4D"/>
                </a:solidFill>
                <a:latin typeface="Noto Serif JP"/>
              </a:rPr>
              <a:t>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40" y="15544800"/>
            <a:ext cx="27432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A57C2D"/>
                </a:solidFill>
                <a:latin typeface="Noto Serif JP"/>
              </a:rPr>
              <a:t>✦</a:t>
            </a:r>
          </a:p>
        </p:txBody>
      </p:sp>
      <p:pic>
        <p:nvPicPr>
          <p:cNvPr id="24" name="Picture 23" descr="assets-keyho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548640"/>
            <a:ext cx="721342" cy="102412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737360" y="621792"/>
            <a:ext cx="457200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3300" b="1">
                <a:solidFill>
                  <a:srgbClr val="30271F"/>
                </a:solidFill>
                <a:latin typeface="Noto Serif JP"/>
              </a:rPr>
              <a:t>BYOKey Speak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55648" y="1078992"/>
            <a:ext cx="4480560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74541F"/>
                </a:solidFill>
                <a:latin typeface="Noto Serif JP"/>
              </a:rPr>
              <a:t>The key is in your hand.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1810512"/>
            <a:ext cx="1097280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1">
                <a:solidFill>
                  <a:srgbClr val="74541F"/>
                </a:solidFill>
                <a:latin typeface="Noto Serif JP"/>
              </a:rPr>
              <a:t>2/5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2523744"/>
            <a:ext cx="8412480" cy="7132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4500" b="1">
                <a:solidFill>
                  <a:srgbClr val="30271F"/>
                </a:solidFill>
                <a:latin typeface="Noto Sans JP"/>
              </a:rPr>
              <a:t>話し方も、教え方も。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3236976"/>
            <a:ext cx="8412480" cy="7132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4500" b="1">
                <a:solidFill>
                  <a:srgbClr val="B15C4D"/>
                </a:solidFill>
                <a:latin typeface="Noto Sans JP"/>
              </a:rPr>
              <a:t>あなたの言葉で決められる。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58368" y="4023360"/>
            <a:ext cx="4096512" cy="0"/>
          </a:xfrm>
          <a:prstGeom prst="line">
            <a:avLst/>
          </a:prstGeom>
          <a:ln w="50800">
            <a:solidFill>
              <a:srgbClr val="7454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58368" y="4663440"/>
            <a:ext cx="7132320" cy="7132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5F4F3D"/>
                </a:solidFill>
                <a:latin typeface="Noto Sans JP"/>
              </a:rPr>
              <a:t>性格・添削方針・説明言語・会話スタイルを自由に設定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377440" y="6986016"/>
            <a:ext cx="5449824" cy="12573000"/>
          </a:xfrm>
          <a:prstGeom prst="roundRect">
            <a:avLst/>
          </a:prstGeom>
          <a:solidFill>
            <a:srgbClr val="BAA9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2212848" y="6766560"/>
            <a:ext cx="5449824" cy="12573000"/>
          </a:xfrm>
          <a:prstGeom prst="roundRect">
            <a:avLst/>
          </a:prstGeom>
          <a:solidFill>
            <a:srgbClr val="2C2723"/>
          </a:solidFill>
          <a:ln w="38100">
            <a:solidFill>
              <a:srgbClr val="7454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2432304" y="6986016"/>
            <a:ext cx="5010912" cy="12134088"/>
          </a:xfrm>
          <a:prstGeom prst="roundRect">
            <a:avLst/>
          </a:prstGeom>
          <a:solidFill>
            <a:srgbClr val="FAF4E4"/>
          </a:solidFill>
          <a:ln w="16510">
            <a:solidFill>
              <a:srgbClr val="A57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4096512" y="6967728"/>
            <a:ext cx="1682496" cy="164592"/>
          </a:xfrm>
          <a:prstGeom prst="roundRect">
            <a:avLst/>
          </a:prstGeom>
          <a:solidFill>
            <a:srgbClr val="403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2670048" y="7406640"/>
            <a:ext cx="4535424" cy="11201400"/>
          </a:xfrm>
          <a:prstGeom prst="roundRect">
            <a:avLst/>
          </a:prstGeom>
          <a:solidFill>
            <a:srgbClr val="FFFBF0"/>
          </a:solidFill>
          <a:ln w="15240">
            <a:solidFill>
              <a:srgbClr val="D3B5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962656" y="7754112"/>
            <a:ext cx="3950208" cy="4389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500" b="1">
                <a:solidFill>
                  <a:srgbClr val="74541F"/>
                </a:solidFill>
                <a:latin typeface="Noto Sans JP"/>
              </a:rPr>
              <a:t>Coach Personalities &amp; Skills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2962656" y="8321040"/>
            <a:ext cx="3950208" cy="0"/>
          </a:xfrm>
          <a:prstGeom prst="line">
            <a:avLst/>
          </a:prstGeom>
          <a:ln w="20320">
            <a:solidFill>
              <a:srgbClr val="A57C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2962656" y="8741664"/>
            <a:ext cx="3950208" cy="1170432"/>
          </a:xfrm>
          <a:prstGeom prst="roundRect">
            <a:avLst/>
          </a:prstGeom>
          <a:solidFill>
            <a:srgbClr val="F7EEDA"/>
          </a:solidFill>
          <a:ln w="15875">
            <a:solidFill>
              <a:srgbClr val="A57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200400" y="8942832"/>
            <a:ext cx="3474720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74541F"/>
                </a:solidFill>
                <a:latin typeface="Noto Sans JP"/>
              </a:rPr>
              <a:t>設定欄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00400" y="9272016"/>
            <a:ext cx="3474720" cy="5669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30271F"/>
                </a:solidFill>
                <a:latin typeface="Noto Sans JP"/>
              </a:rPr>
              <a:t>間違いは日本語で短く説明してください。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962656" y="10168128"/>
            <a:ext cx="3950208" cy="1170432"/>
          </a:xfrm>
          <a:prstGeom prst="roundRect">
            <a:avLst/>
          </a:prstGeom>
          <a:solidFill>
            <a:srgbClr val="F7EEDA"/>
          </a:solidFill>
          <a:ln w="15875">
            <a:solidFill>
              <a:srgbClr val="A57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200400" y="10369296"/>
            <a:ext cx="3474720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74541F"/>
                </a:solidFill>
                <a:latin typeface="Noto Sans JP"/>
              </a:rPr>
              <a:t>添削方針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200400" y="10698480"/>
            <a:ext cx="3474720" cy="5669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30271F"/>
                </a:solidFill>
                <a:latin typeface="Noto Sans JP"/>
              </a:rPr>
              <a:t>会話を止めず、最後にまとめて添削。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962656" y="11594592"/>
            <a:ext cx="3950208" cy="1170432"/>
          </a:xfrm>
          <a:prstGeom prst="roundRect">
            <a:avLst/>
          </a:prstGeom>
          <a:solidFill>
            <a:srgbClr val="F7EEDA"/>
          </a:solidFill>
          <a:ln w="15875">
            <a:solidFill>
              <a:srgbClr val="A57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200400" y="11795760"/>
            <a:ext cx="3474720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74541F"/>
                </a:solidFill>
                <a:latin typeface="Noto Sans JP"/>
              </a:rPr>
              <a:t>話し方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200400" y="12124944"/>
            <a:ext cx="3474720" cy="5669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30271F"/>
                </a:solidFill>
                <a:latin typeface="Noto Sans JP"/>
              </a:rPr>
              <a:t>質問を多めにして、やさしく励ます。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090672" y="16989552"/>
            <a:ext cx="3694176" cy="530352"/>
          </a:xfrm>
          <a:prstGeom prst="roundRect">
            <a:avLst/>
          </a:prstGeom>
          <a:solidFill>
            <a:srgbClr val="EEE1C1"/>
          </a:solidFill>
          <a:ln w="12700">
            <a:solidFill>
              <a:srgbClr val="A57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383280" y="17126712"/>
            <a:ext cx="310896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5F4F3D"/>
                </a:solidFill>
                <a:latin typeface="Noto Sans JP"/>
              </a:rPr>
              <a:t>ここに実画面スクショを差し替え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875520" cy="17556480"/>
          </a:xfrm>
          <a:prstGeom prst="rect">
            <a:avLst/>
          </a:prstGeom>
          <a:solidFill>
            <a:srgbClr val="F2E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640080"/>
            <a:ext cx="9875520" cy="73152"/>
          </a:xfrm>
          <a:prstGeom prst="line">
            <a:avLst/>
          </a:prstGeom>
          <a:ln w="7620">
            <a:solidFill>
              <a:srgbClr val="D9C6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737360"/>
            <a:ext cx="9875520" cy="73152"/>
          </a:xfrm>
          <a:prstGeom prst="line">
            <a:avLst/>
          </a:prstGeom>
          <a:ln w="7620">
            <a:solidFill>
              <a:srgbClr val="D9C6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2834640"/>
            <a:ext cx="9875520" cy="73152"/>
          </a:xfrm>
          <a:prstGeom prst="line">
            <a:avLst/>
          </a:prstGeom>
          <a:ln w="7620">
            <a:solidFill>
              <a:srgbClr val="D9C6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3931920"/>
            <a:ext cx="9875520" cy="73152"/>
          </a:xfrm>
          <a:prstGeom prst="line">
            <a:avLst/>
          </a:prstGeom>
          <a:ln w="7620">
            <a:solidFill>
              <a:srgbClr val="D9C6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5029200"/>
            <a:ext cx="9875520" cy="73152"/>
          </a:xfrm>
          <a:prstGeom prst="line">
            <a:avLst/>
          </a:prstGeom>
          <a:ln w="7620">
            <a:solidFill>
              <a:srgbClr val="D9C6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6126480"/>
            <a:ext cx="9875520" cy="73152"/>
          </a:xfrm>
          <a:prstGeom prst="line">
            <a:avLst/>
          </a:prstGeom>
          <a:ln w="7620">
            <a:solidFill>
              <a:srgbClr val="D9C6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7223760"/>
            <a:ext cx="9875520" cy="73152"/>
          </a:xfrm>
          <a:prstGeom prst="line">
            <a:avLst/>
          </a:prstGeom>
          <a:ln w="7620">
            <a:solidFill>
              <a:srgbClr val="D9C6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8321040"/>
            <a:ext cx="9875520" cy="73152"/>
          </a:xfrm>
          <a:prstGeom prst="line">
            <a:avLst/>
          </a:prstGeom>
          <a:ln w="7620">
            <a:solidFill>
              <a:srgbClr val="D9C6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9418320"/>
            <a:ext cx="9875520" cy="73152"/>
          </a:xfrm>
          <a:prstGeom prst="line">
            <a:avLst/>
          </a:prstGeom>
          <a:ln w="7620">
            <a:solidFill>
              <a:srgbClr val="D9C6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10515600"/>
            <a:ext cx="9875520" cy="73152"/>
          </a:xfrm>
          <a:prstGeom prst="line">
            <a:avLst/>
          </a:prstGeom>
          <a:ln w="7620">
            <a:solidFill>
              <a:srgbClr val="D9C6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11612880"/>
            <a:ext cx="9875520" cy="73152"/>
          </a:xfrm>
          <a:prstGeom prst="line">
            <a:avLst/>
          </a:prstGeom>
          <a:ln w="7620">
            <a:solidFill>
              <a:srgbClr val="D9C6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12710160"/>
            <a:ext cx="9875520" cy="73152"/>
          </a:xfrm>
          <a:prstGeom prst="line">
            <a:avLst/>
          </a:prstGeom>
          <a:ln w="7620">
            <a:solidFill>
              <a:srgbClr val="D9C6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13807440"/>
            <a:ext cx="9875520" cy="73152"/>
          </a:xfrm>
          <a:prstGeom prst="line">
            <a:avLst/>
          </a:prstGeom>
          <a:ln w="7620">
            <a:solidFill>
              <a:srgbClr val="D9C6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14904720"/>
            <a:ext cx="9875520" cy="73152"/>
          </a:xfrm>
          <a:prstGeom prst="line">
            <a:avLst/>
          </a:prstGeom>
          <a:ln w="7620">
            <a:solidFill>
              <a:srgbClr val="D9C6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16002000"/>
            <a:ext cx="9875520" cy="73151"/>
          </a:xfrm>
          <a:prstGeom prst="line">
            <a:avLst/>
          </a:prstGeom>
          <a:ln w="7620">
            <a:solidFill>
              <a:srgbClr val="D9C6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17099280"/>
            <a:ext cx="9875520" cy="73152"/>
          </a:xfrm>
          <a:prstGeom prst="line">
            <a:avLst/>
          </a:prstGeom>
          <a:ln w="7620">
            <a:solidFill>
              <a:srgbClr val="D9C6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275320" y="1005840"/>
            <a:ext cx="27432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A57C2D"/>
                </a:solidFill>
                <a:latin typeface="Noto Serif JP"/>
              </a:rPr>
              <a:t>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2286000"/>
            <a:ext cx="27432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A57C2D"/>
                </a:solidFill>
                <a:latin typeface="Noto Serif JP"/>
              </a:rPr>
              <a:t>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4023360"/>
            <a:ext cx="27432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5B6E51"/>
                </a:solidFill>
                <a:latin typeface="Noto Serif JP"/>
              </a:rPr>
              <a:t>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14081760"/>
            <a:ext cx="27432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B15C4D"/>
                </a:solidFill>
                <a:latin typeface="Noto Serif JP"/>
              </a:rPr>
              <a:t>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40" y="15544800"/>
            <a:ext cx="27432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A57C2D"/>
                </a:solidFill>
                <a:latin typeface="Noto Serif JP"/>
              </a:rPr>
              <a:t>✦</a:t>
            </a:r>
          </a:p>
        </p:txBody>
      </p:sp>
      <p:pic>
        <p:nvPicPr>
          <p:cNvPr id="24" name="Picture 23" descr="assets-keyho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548640"/>
            <a:ext cx="721342" cy="102412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737360" y="621792"/>
            <a:ext cx="457200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3300" b="1">
                <a:solidFill>
                  <a:srgbClr val="30271F"/>
                </a:solidFill>
                <a:latin typeface="Noto Serif JP"/>
              </a:rPr>
              <a:t>BYOKey Speak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55648" y="1078992"/>
            <a:ext cx="4480560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74541F"/>
                </a:solidFill>
                <a:latin typeface="Noto Serif JP"/>
              </a:rPr>
              <a:t>The key is in your hand.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1810512"/>
            <a:ext cx="1097280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1">
                <a:solidFill>
                  <a:srgbClr val="74541F"/>
                </a:solidFill>
                <a:latin typeface="Noto Serif JP"/>
              </a:rPr>
              <a:t>3/5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2523744"/>
            <a:ext cx="8412480" cy="7132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4500" b="1">
                <a:solidFill>
                  <a:srgbClr val="30271F"/>
                </a:solidFill>
                <a:latin typeface="Noto Sans JP"/>
              </a:rPr>
              <a:t>返信を選ぶのではなく、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3236976"/>
            <a:ext cx="8412480" cy="7132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4500" b="1">
                <a:solidFill>
                  <a:srgbClr val="B15C4D"/>
                </a:solidFill>
                <a:latin typeface="Noto Sans JP"/>
              </a:rPr>
              <a:t>言いたいことを英語にする。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58368" y="4023360"/>
            <a:ext cx="4096512" cy="0"/>
          </a:xfrm>
          <a:prstGeom prst="line">
            <a:avLst/>
          </a:prstGeom>
          <a:ln w="50800">
            <a:solidFill>
              <a:srgbClr val="7454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58368" y="4663440"/>
            <a:ext cx="7132320" cy="7132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5F4F3D"/>
                </a:solidFill>
                <a:latin typeface="Noto Sans JP"/>
              </a:rPr>
              <a:t>日本語でも、英語でも、混ざっていても大丈夫です。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377440" y="6986016"/>
            <a:ext cx="5449824" cy="12573000"/>
          </a:xfrm>
          <a:prstGeom prst="roundRect">
            <a:avLst/>
          </a:prstGeom>
          <a:solidFill>
            <a:srgbClr val="BAA9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2212848" y="6766560"/>
            <a:ext cx="5449824" cy="12573000"/>
          </a:xfrm>
          <a:prstGeom prst="roundRect">
            <a:avLst/>
          </a:prstGeom>
          <a:solidFill>
            <a:srgbClr val="2C2723"/>
          </a:solidFill>
          <a:ln w="38100">
            <a:solidFill>
              <a:srgbClr val="7454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2432304" y="6986016"/>
            <a:ext cx="5010912" cy="12134088"/>
          </a:xfrm>
          <a:prstGeom prst="roundRect">
            <a:avLst/>
          </a:prstGeom>
          <a:solidFill>
            <a:srgbClr val="FAF4E4"/>
          </a:solidFill>
          <a:ln w="16510">
            <a:solidFill>
              <a:srgbClr val="A57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4096512" y="6967728"/>
            <a:ext cx="1682496" cy="164592"/>
          </a:xfrm>
          <a:prstGeom prst="roundRect">
            <a:avLst/>
          </a:prstGeom>
          <a:solidFill>
            <a:srgbClr val="403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2670048" y="7406640"/>
            <a:ext cx="4535424" cy="11201400"/>
          </a:xfrm>
          <a:prstGeom prst="roundRect">
            <a:avLst/>
          </a:prstGeom>
          <a:solidFill>
            <a:srgbClr val="FFFBF0"/>
          </a:solidFill>
          <a:ln w="15240">
            <a:solidFill>
              <a:srgbClr val="D3B5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962656" y="7754112"/>
            <a:ext cx="3950208" cy="4389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500" b="1">
                <a:solidFill>
                  <a:srgbClr val="74541F"/>
                </a:solidFill>
                <a:latin typeface="Noto Sans JP"/>
              </a:rPr>
              <a:t>Quick Assist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2962656" y="8321040"/>
            <a:ext cx="3950208" cy="0"/>
          </a:xfrm>
          <a:prstGeom prst="line">
            <a:avLst/>
          </a:prstGeom>
          <a:ln w="20320">
            <a:solidFill>
              <a:srgbClr val="A57C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2962656" y="8741664"/>
            <a:ext cx="3950208" cy="1170432"/>
          </a:xfrm>
          <a:prstGeom prst="roundRect">
            <a:avLst/>
          </a:prstGeom>
          <a:solidFill>
            <a:srgbClr val="F7EEDA"/>
          </a:solidFill>
          <a:ln w="15875">
            <a:solidFill>
              <a:srgbClr val="A57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200400" y="8942832"/>
            <a:ext cx="3474720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B15C4D"/>
                </a:solidFill>
                <a:latin typeface="Noto Sans JP"/>
              </a:rPr>
              <a:t>入力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00400" y="9272016"/>
            <a:ext cx="3474720" cy="5669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30271F"/>
                </a:solidFill>
                <a:latin typeface="Noto Sans JP"/>
              </a:rPr>
              <a:t>子どもを寝かしつけないといけない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962656" y="10168128"/>
            <a:ext cx="3950208" cy="1408176"/>
          </a:xfrm>
          <a:prstGeom prst="roundRect">
            <a:avLst/>
          </a:prstGeom>
          <a:solidFill>
            <a:srgbClr val="F7EEDA"/>
          </a:solidFill>
          <a:ln w="15875">
            <a:solidFill>
              <a:srgbClr val="A57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200400" y="10369296"/>
            <a:ext cx="3474720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74541F"/>
                </a:solidFill>
                <a:latin typeface="Noto Sans JP"/>
              </a:rPr>
              <a:t>候補 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200400" y="10698480"/>
            <a:ext cx="3474720" cy="8046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30271F"/>
                </a:solidFill>
                <a:latin typeface="Noto Sans JP"/>
              </a:rPr>
              <a:t>I need to put my kids to bed.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962656" y="11832336"/>
            <a:ext cx="3950208" cy="1408176"/>
          </a:xfrm>
          <a:prstGeom prst="roundRect">
            <a:avLst/>
          </a:prstGeom>
          <a:solidFill>
            <a:srgbClr val="F7EEDA"/>
          </a:solidFill>
          <a:ln w="15875">
            <a:solidFill>
              <a:srgbClr val="A57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200400" y="12033504"/>
            <a:ext cx="3474720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74541F"/>
                </a:solidFill>
                <a:latin typeface="Noto Sans JP"/>
              </a:rPr>
              <a:t>候補 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200400" y="12362688"/>
            <a:ext cx="3474720" cy="8046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30271F"/>
                </a:solidFill>
                <a:latin typeface="Noto Sans JP"/>
              </a:rPr>
              <a:t>It’s time for bed, so I have to go.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090672" y="16989552"/>
            <a:ext cx="3694176" cy="530352"/>
          </a:xfrm>
          <a:prstGeom prst="roundRect">
            <a:avLst/>
          </a:prstGeom>
          <a:solidFill>
            <a:srgbClr val="EEE1C1"/>
          </a:solidFill>
          <a:ln w="12700">
            <a:solidFill>
              <a:srgbClr val="A57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383280" y="17126712"/>
            <a:ext cx="310896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5F4F3D"/>
                </a:solidFill>
                <a:latin typeface="Noto Sans JP"/>
              </a:rPr>
              <a:t>ここに実画面スクショを差し替え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875520" cy="17556480"/>
          </a:xfrm>
          <a:prstGeom prst="rect">
            <a:avLst/>
          </a:prstGeom>
          <a:solidFill>
            <a:srgbClr val="F2E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640080"/>
            <a:ext cx="9875520" cy="73152"/>
          </a:xfrm>
          <a:prstGeom prst="line">
            <a:avLst/>
          </a:prstGeom>
          <a:ln w="7620">
            <a:solidFill>
              <a:srgbClr val="D9C6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737360"/>
            <a:ext cx="9875520" cy="73152"/>
          </a:xfrm>
          <a:prstGeom prst="line">
            <a:avLst/>
          </a:prstGeom>
          <a:ln w="7620">
            <a:solidFill>
              <a:srgbClr val="D9C6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2834640"/>
            <a:ext cx="9875520" cy="73152"/>
          </a:xfrm>
          <a:prstGeom prst="line">
            <a:avLst/>
          </a:prstGeom>
          <a:ln w="7620">
            <a:solidFill>
              <a:srgbClr val="D9C6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3931920"/>
            <a:ext cx="9875520" cy="73152"/>
          </a:xfrm>
          <a:prstGeom prst="line">
            <a:avLst/>
          </a:prstGeom>
          <a:ln w="7620">
            <a:solidFill>
              <a:srgbClr val="D9C6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5029200"/>
            <a:ext cx="9875520" cy="73152"/>
          </a:xfrm>
          <a:prstGeom prst="line">
            <a:avLst/>
          </a:prstGeom>
          <a:ln w="7620">
            <a:solidFill>
              <a:srgbClr val="D9C6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6126480"/>
            <a:ext cx="9875520" cy="73152"/>
          </a:xfrm>
          <a:prstGeom prst="line">
            <a:avLst/>
          </a:prstGeom>
          <a:ln w="7620">
            <a:solidFill>
              <a:srgbClr val="D9C6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7223760"/>
            <a:ext cx="9875520" cy="73152"/>
          </a:xfrm>
          <a:prstGeom prst="line">
            <a:avLst/>
          </a:prstGeom>
          <a:ln w="7620">
            <a:solidFill>
              <a:srgbClr val="D9C6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8321040"/>
            <a:ext cx="9875520" cy="73152"/>
          </a:xfrm>
          <a:prstGeom prst="line">
            <a:avLst/>
          </a:prstGeom>
          <a:ln w="7620">
            <a:solidFill>
              <a:srgbClr val="D9C6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9418320"/>
            <a:ext cx="9875520" cy="73152"/>
          </a:xfrm>
          <a:prstGeom prst="line">
            <a:avLst/>
          </a:prstGeom>
          <a:ln w="7620">
            <a:solidFill>
              <a:srgbClr val="D9C6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10515600"/>
            <a:ext cx="9875520" cy="73152"/>
          </a:xfrm>
          <a:prstGeom prst="line">
            <a:avLst/>
          </a:prstGeom>
          <a:ln w="7620">
            <a:solidFill>
              <a:srgbClr val="D9C6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11612880"/>
            <a:ext cx="9875520" cy="73152"/>
          </a:xfrm>
          <a:prstGeom prst="line">
            <a:avLst/>
          </a:prstGeom>
          <a:ln w="7620">
            <a:solidFill>
              <a:srgbClr val="D9C6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12710160"/>
            <a:ext cx="9875520" cy="73152"/>
          </a:xfrm>
          <a:prstGeom prst="line">
            <a:avLst/>
          </a:prstGeom>
          <a:ln w="7620">
            <a:solidFill>
              <a:srgbClr val="D9C6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13807440"/>
            <a:ext cx="9875520" cy="73152"/>
          </a:xfrm>
          <a:prstGeom prst="line">
            <a:avLst/>
          </a:prstGeom>
          <a:ln w="7620">
            <a:solidFill>
              <a:srgbClr val="D9C6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14904720"/>
            <a:ext cx="9875520" cy="73152"/>
          </a:xfrm>
          <a:prstGeom prst="line">
            <a:avLst/>
          </a:prstGeom>
          <a:ln w="7620">
            <a:solidFill>
              <a:srgbClr val="D9C6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16002000"/>
            <a:ext cx="9875520" cy="73151"/>
          </a:xfrm>
          <a:prstGeom prst="line">
            <a:avLst/>
          </a:prstGeom>
          <a:ln w="7620">
            <a:solidFill>
              <a:srgbClr val="D9C6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17099280"/>
            <a:ext cx="9875520" cy="73152"/>
          </a:xfrm>
          <a:prstGeom prst="line">
            <a:avLst/>
          </a:prstGeom>
          <a:ln w="7620">
            <a:solidFill>
              <a:srgbClr val="D9C6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275320" y="1005840"/>
            <a:ext cx="27432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A57C2D"/>
                </a:solidFill>
                <a:latin typeface="Noto Serif JP"/>
              </a:rPr>
              <a:t>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2286000"/>
            <a:ext cx="27432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A57C2D"/>
                </a:solidFill>
                <a:latin typeface="Noto Serif JP"/>
              </a:rPr>
              <a:t>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4023360"/>
            <a:ext cx="27432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5B6E51"/>
                </a:solidFill>
                <a:latin typeface="Noto Serif JP"/>
              </a:rPr>
              <a:t>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14081760"/>
            <a:ext cx="27432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B15C4D"/>
                </a:solidFill>
                <a:latin typeface="Noto Serif JP"/>
              </a:rPr>
              <a:t>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40" y="15544800"/>
            <a:ext cx="27432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A57C2D"/>
                </a:solidFill>
                <a:latin typeface="Noto Serif JP"/>
              </a:rPr>
              <a:t>✦</a:t>
            </a:r>
          </a:p>
        </p:txBody>
      </p:sp>
      <p:pic>
        <p:nvPicPr>
          <p:cNvPr id="24" name="Picture 23" descr="assets-keyho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548640"/>
            <a:ext cx="721342" cy="102412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737360" y="621792"/>
            <a:ext cx="457200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3300" b="1">
                <a:solidFill>
                  <a:srgbClr val="30271F"/>
                </a:solidFill>
                <a:latin typeface="Noto Serif JP"/>
              </a:rPr>
              <a:t>BYOKey Speak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55648" y="1078992"/>
            <a:ext cx="4480560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74541F"/>
                </a:solidFill>
                <a:latin typeface="Noto Serif JP"/>
              </a:rPr>
              <a:t>The key is in your hand.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1810512"/>
            <a:ext cx="1097280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1">
                <a:solidFill>
                  <a:srgbClr val="74541F"/>
                </a:solidFill>
                <a:latin typeface="Noto Serif JP"/>
              </a:rPr>
              <a:t>4/5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2523744"/>
            <a:ext cx="8412480" cy="7132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4500" b="1">
                <a:solidFill>
                  <a:srgbClr val="30271F"/>
                </a:solidFill>
                <a:latin typeface="Noto Sans JP"/>
              </a:rPr>
              <a:t>話したあとに、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3236976"/>
            <a:ext cx="8412480" cy="7132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4500" b="1">
                <a:solidFill>
                  <a:srgbClr val="30271F"/>
                </a:solidFill>
                <a:latin typeface="Noto Sans JP"/>
              </a:rPr>
              <a:t>次に伸ばすところが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3950208"/>
            <a:ext cx="8412480" cy="7132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4500" b="1">
                <a:solidFill>
                  <a:srgbClr val="B15C4D"/>
                </a:solidFill>
                <a:latin typeface="Noto Sans JP"/>
              </a:rPr>
              <a:t>見えてくる。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58368" y="4736592"/>
            <a:ext cx="4096512" cy="0"/>
          </a:xfrm>
          <a:prstGeom prst="line">
            <a:avLst/>
          </a:prstGeom>
          <a:ln w="50800">
            <a:solidFill>
              <a:srgbClr val="7454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58368" y="5376672"/>
            <a:ext cx="7132320" cy="7132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5F4F3D"/>
                </a:solidFill>
                <a:latin typeface="Noto Sans JP"/>
              </a:rPr>
              <a:t>会話履歴から、強み・傾向・改善ポイントを分析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377440" y="6986016"/>
            <a:ext cx="5449824" cy="12573000"/>
          </a:xfrm>
          <a:prstGeom prst="roundRect">
            <a:avLst/>
          </a:prstGeom>
          <a:solidFill>
            <a:srgbClr val="BAA9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2212848" y="6766560"/>
            <a:ext cx="5449824" cy="12573000"/>
          </a:xfrm>
          <a:prstGeom prst="roundRect">
            <a:avLst/>
          </a:prstGeom>
          <a:solidFill>
            <a:srgbClr val="2C2723"/>
          </a:solidFill>
          <a:ln w="38100">
            <a:solidFill>
              <a:srgbClr val="7454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2432304" y="6986016"/>
            <a:ext cx="5010912" cy="12134088"/>
          </a:xfrm>
          <a:prstGeom prst="roundRect">
            <a:avLst/>
          </a:prstGeom>
          <a:solidFill>
            <a:srgbClr val="FAF4E4"/>
          </a:solidFill>
          <a:ln w="16510">
            <a:solidFill>
              <a:srgbClr val="A57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4096512" y="6967728"/>
            <a:ext cx="1682496" cy="164592"/>
          </a:xfrm>
          <a:prstGeom prst="roundRect">
            <a:avLst/>
          </a:prstGeom>
          <a:solidFill>
            <a:srgbClr val="403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2670048" y="7406640"/>
            <a:ext cx="4535424" cy="11201400"/>
          </a:xfrm>
          <a:prstGeom prst="roundRect">
            <a:avLst/>
          </a:prstGeom>
          <a:solidFill>
            <a:srgbClr val="FFFBF0"/>
          </a:solidFill>
          <a:ln w="15240">
            <a:solidFill>
              <a:srgbClr val="D3B5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962656" y="7754112"/>
            <a:ext cx="3950208" cy="4389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500" b="1">
                <a:solidFill>
                  <a:srgbClr val="74541F"/>
                </a:solidFill>
                <a:latin typeface="Noto Sans JP"/>
              </a:rPr>
              <a:t>会話分析結果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2962656" y="8321040"/>
            <a:ext cx="3950208" cy="0"/>
          </a:xfrm>
          <a:prstGeom prst="line">
            <a:avLst/>
          </a:prstGeom>
          <a:ln w="20320">
            <a:solidFill>
              <a:srgbClr val="A57C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2962656" y="8741664"/>
            <a:ext cx="3950208" cy="1170432"/>
          </a:xfrm>
          <a:prstGeom prst="roundRect">
            <a:avLst/>
          </a:prstGeom>
          <a:solidFill>
            <a:srgbClr val="F7EEDA"/>
          </a:solidFill>
          <a:ln w="15875">
            <a:solidFill>
              <a:srgbClr val="A57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200400" y="8942832"/>
            <a:ext cx="3474720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74541F"/>
                </a:solidFill>
                <a:latin typeface="Noto Sans JP"/>
              </a:rPr>
              <a:t>強み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00400" y="9272016"/>
            <a:ext cx="3474720" cy="5669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30271F"/>
                </a:solidFill>
                <a:latin typeface="Noto Sans JP"/>
              </a:rPr>
              <a:t>理由を添えて話せている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962656" y="10168128"/>
            <a:ext cx="3950208" cy="1170432"/>
          </a:xfrm>
          <a:prstGeom prst="roundRect">
            <a:avLst/>
          </a:prstGeom>
          <a:solidFill>
            <a:srgbClr val="F7EEDA"/>
          </a:solidFill>
          <a:ln w="15875">
            <a:solidFill>
              <a:srgbClr val="A57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200400" y="10369296"/>
            <a:ext cx="3474720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74541F"/>
                </a:solidFill>
                <a:latin typeface="Noto Sans JP"/>
              </a:rPr>
              <a:t>よくある傾向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200400" y="10698480"/>
            <a:ext cx="3474720" cy="5669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30271F"/>
                </a:solidFill>
                <a:latin typeface="Noto Sans JP"/>
              </a:rPr>
              <a:t>表現が直訳になりやすい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962656" y="11594592"/>
            <a:ext cx="3950208" cy="1170432"/>
          </a:xfrm>
          <a:prstGeom prst="roundRect">
            <a:avLst/>
          </a:prstGeom>
          <a:solidFill>
            <a:srgbClr val="F7EEDA"/>
          </a:solidFill>
          <a:ln w="15875">
            <a:solidFill>
              <a:srgbClr val="A57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200400" y="11795760"/>
            <a:ext cx="3474720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74541F"/>
                </a:solidFill>
                <a:latin typeface="Noto Sans JP"/>
              </a:rPr>
              <a:t>改善ポイント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200400" y="12124944"/>
            <a:ext cx="3474720" cy="5669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30271F"/>
                </a:solidFill>
                <a:latin typeface="Noto Sans JP"/>
              </a:rPr>
              <a:t>短い自然な言い換えを増やす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962656" y="13021056"/>
            <a:ext cx="3950208" cy="1170432"/>
          </a:xfrm>
          <a:prstGeom prst="roundRect">
            <a:avLst/>
          </a:prstGeom>
          <a:solidFill>
            <a:srgbClr val="F7EEDA"/>
          </a:solidFill>
          <a:ln w="15875">
            <a:solidFill>
              <a:srgbClr val="A57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200400" y="13222224"/>
            <a:ext cx="3474720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74541F"/>
                </a:solidFill>
                <a:latin typeface="Noto Sans JP"/>
              </a:rPr>
              <a:t>次の練習項目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200400" y="13551408"/>
            <a:ext cx="3474720" cy="5669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30271F"/>
                </a:solidFill>
                <a:latin typeface="Noto Sans JP"/>
              </a:rPr>
              <a:t>反対意見をやさしく伝える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090672" y="16989552"/>
            <a:ext cx="3694176" cy="530352"/>
          </a:xfrm>
          <a:prstGeom prst="roundRect">
            <a:avLst/>
          </a:prstGeom>
          <a:solidFill>
            <a:srgbClr val="EEE1C1"/>
          </a:solidFill>
          <a:ln w="12700">
            <a:solidFill>
              <a:srgbClr val="A57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383280" y="17126712"/>
            <a:ext cx="310896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5F4F3D"/>
                </a:solidFill>
                <a:latin typeface="Noto Sans JP"/>
              </a:rPr>
              <a:t>ここに実画面スクショを差し替え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875520" cy="17556480"/>
          </a:xfrm>
          <a:prstGeom prst="rect">
            <a:avLst/>
          </a:prstGeom>
          <a:solidFill>
            <a:srgbClr val="F2E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640080"/>
            <a:ext cx="9875520" cy="73152"/>
          </a:xfrm>
          <a:prstGeom prst="line">
            <a:avLst/>
          </a:prstGeom>
          <a:ln w="7620">
            <a:solidFill>
              <a:srgbClr val="D9C6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737360"/>
            <a:ext cx="9875520" cy="73152"/>
          </a:xfrm>
          <a:prstGeom prst="line">
            <a:avLst/>
          </a:prstGeom>
          <a:ln w="7620">
            <a:solidFill>
              <a:srgbClr val="D9C6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2834640"/>
            <a:ext cx="9875520" cy="73152"/>
          </a:xfrm>
          <a:prstGeom prst="line">
            <a:avLst/>
          </a:prstGeom>
          <a:ln w="7620">
            <a:solidFill>
              <a:srgbClr val="D9C6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3931920"/>
            <a:ext cx="9875520" cy="73152"/>
          </a:xfrm>
          <a:prstGeom prst="line">
            <a:avLst/>
          </a:prstGeom>
          <a:ln w="7620">
            <a:solidFill>
              <a:srgbClr val="D9C6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5029200"/>
            <a:ext cx="9875520" cy="73152"/>
          </a:xfrm>
          <a:prstGeom prst="line">
            <a:avLst/>
          </a:prstGeom>
          <a:ln w="7620">
            <a:solidFill>
              <a:srgbClr val="D9C6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6126480"/>
            <a:ext cx="9875520" cy="73152"/>
          </a:xfrm>
          <a:prstGeom prst="line">
            <a:avLst/>
          </a:prstGeom>
          <a:ln w="7620">
            <a:solidFill>
              <a:srgbClr val="D9C6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7223760"/>
            <a:ext cx="9875520" cy="73152"/>
          </a:xfrm>
          <a:prstGeom prst="line">
            <a:avLst/>
          </a:prstGeom>
          <a:ln w="7620">
            <a:solidFill>
              <a:srgbClr val="D9C6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8321040"/>
            <a:ext cx="9875520" cy="73152"/>
          </a:xfrm>
          <a:prstGeom prst="line">
            <a:avLst/>
          </a:prstGeom>
          <a:ln w="7620">
            <a:solidFill>
              <a:srgbClr val="D9C6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9418320"/>
            <a:ext cx="9875520" cy="73152"/>
          </a:xfrm>
          <a:prstGeom prst="line">
            <a:avLst/>
          </a:prstGeom>
          <a:ln w="7620">
            <a:solidFill>
              <a:srgbClr val="D9C6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10515600"/>
            <a:ext cx="9875520" cy="73152"/>
          </a:xfrm>
          <a:prstGeom prst="line">
            <a:avLst/>
          </a:prstGeom>
          <a:ln w="7620">
            <a:solidFill>
              <a:srgbClr val="D9C6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11612880"/>
            <a:ext cx="9875520" cy="73152"/>
          </a:xfrm>
          <a:prstGeom prst="line">
            <a:avLst/>
          </a:prstGeom>
          <a:ln w="7620">
            <a:solidFill>
              <a:srgbClr val="D9C6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12710160"/>
            <a:ext cx="9875520" cy="73152"/>
          </a:xfrm>
          <a:prstGeom prst="line">
            <a:avLst/>
          </a:prstGeom>
          <a:ln w="7620">
            <a:solidFill>
              <a:srgbClr val="D9C6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13807440"/>
            <a:ext cx="9875520" cy="73152"/>
          </a:xfrm>
          <a:prstGeom prst="line">
            <a:avLst/>
          </a:prstGeom>
          <a:ln w="7620">
            <a:solidFill>
              <a:srgbClr val="D9C6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14904720"/>
            <a:ext cx="9875520" cy="73152"/>
          </a:xfrm>
          <a:prstGeom prst="line">
            <a:avLst/>
          </a:prstGeom>
          <a:ln w="7620">
            <a:solidFill>
              <a:srgbClr val="D9C6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16002000"/>
            <a:ext cx="9875520" cy="73151"/>
          </a:xfrm>
          <a:prstGeom prst="line">
            <a:avLst/>
          </a:prstGeom>
          <a:ln w="7620">
            <a:solidFill>
              <a:srgbClr val="D9C6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17099280"/>
            <a:ext cx="9875520" cy="73152"/>
          </a:xfrm>
          <a:prstGeom prst="line">
            <a:avLst/>
          </a:prstGeom>
          <a:ln w="7620">
            <a:solidFill>
              <a:srgbClr val="D9C6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275320" y="1005840"/>
            <a:ext cx="27432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A57C2D"/>
                </a:solidFill>
                <a:latin typeface="Noto Serif JP"/>
              </a:rPr>
              <a:t>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2286000"/>
            <a:ext cx="27432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A57C2D"/>
                </a:solidFill>
                <a:latin typeface="Noto Serif JP"/>
              </a:rPr>
              <a:t>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4023360"/>
            <a:ext cx="27432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5B6E51"/>
                </a:solidFill>
                <a:latin typeface="Noto Serif JP"/>
              </a:rPr>
              <a:t>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14081760"/>
            <a:ext cx="27432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B15C4D"/>
                </a:solidFill>
                <a:latin typeface="Noto Serif JP"/>
              </a:rPr>
              <a:t>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40" y="15544800"/>
            <a:ext cx="27432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A57C2D"/>
                </a:solidFill>
                <a:latin typeface="Noto Serif JP"/>
              </a:rPr>
              <a:t>✦</a:t>
            </a:r>
          </a:p>
        </p:txBody>
      </p:sp>
      <p:pic>
        <p:nvPicPr>
          <p:cNvPr id="24" name="Picture 23" descr="assets-keyho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548640"/>
            <a:ext cx="721342" cy="102412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737360" y="621792"/>
            <a:ext cx="457200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3300" b="1">
                <a:solidFill>
                  <a:srgbClr val="30271F"/>
                </a:solidFill>
                <a:latin typeface="Noto Serif JP"/>
              </a:rPr>
              <a:t>BYOKey Speak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55648" y="1078992"/>
            <a:ext cx="4480560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74541F"/>
                </a:solidFill>
                <a:latin typeface="Noto Serif JP"/>
              </a:rPr>
              <a:t>The key is in your hand.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1810512"/>
            <a:ext cx="1097280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1">
                <a:solidFill>
                  <a:srgbClr val="74541F"/>
                </a:solidFill>
                <a:latin typeface="Noto Serif JP"/>
              </a:rPr>
              <a:t>5/5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2523744"/>
            <a:ext cx="8412480" cy="7132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4500" b="1">
                <a:solidFill>
                  <a:srgbClr val="30271F"/>
                </a:solidFill>
                <a:latin typeface="Noto Sans JP"/>
              </a:rPr>
              <a:t>使うAIも、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3236976"/>
            <a:ext cx="8412480" cy="7132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4500" b="1">
                <a:solidFill>
                  <a:srgbClr val="30271F"/>
                </a:solidFill>
                <a:latin typeface="Noto Sans JP"/>
              </a:rPr>
              <a:t>毎月の費用も、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3950208"/>
            <a:ext cx="8412480" cy="7132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4500" b="1">
                <a:solidFill>
                  <a:srgbClr val="B15C4D"/>
                </a:solidFill>
                <a:latin typeface="Noto Sans JP"/>
              </a:rPr>
              <a:t>自分で選ぶ。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58368" y="4736592"/>
            <a:ext cx="4096512" cy="0"/>
          </a:xfrm>
          <a:prstGeom prst="line">
            <a:avLst/>
          </a:prstGeom>
          <a:ln w="50800">
            <a:solidFill>
              <a:srgbClr val="7454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58368" y="5376672"/>
            <a:ext cx="7132320" cy="7132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5F4F3D"/>
                </a:solidFill>
                <a:latin typeface="Noto Sans JP"/>
              </a:rPr>
              <a:t>アプリは買い切り。AI利用料は使った分だけ。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377440" y="6986016"/>
            <a:ext cx="5449824" cy="12573000"/>
          </a:xfrm>
          <a:prstGeom prst="roundRect">
            <a:avLst/>
          </a:prstGeom>
          <a:solidFill>
            <a:srgbClr val="BAA9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2212848" y="6766560"/>
            <a:ext cx="5449824" cy="12573000"/>
          </a:xfrm>
          <a:prstGeom prst="roundRect">
            <a:avLst/>
          </a:prstGeom>
          <a:solidFill>
            <a:srgbClr val="2C2723"/>
          </a:solidFill>
          <a:ln w="38100">
            <a:solidFill>
              <a:srgbClr val="7454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2432304" y="6986016"/>
            <a:ext cx="5010912" cy="12134088"/>
          </a:xfrm>
          <a:prstGeom prst="roundRect">
            <a:avLst/>
          </a:prstGeom>
          <a:solidFill>
            <a:srgbClr val="FAF4E4"/>
          </a:solidFill>
          <a:ln w="16510">
            <a:solidFill>
              <a:srgbClr val="A57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4096512" y="6967728"/>
            <a:ext cx="1682496" cy="164592"/>
          </a:xfrm>
          <a:prstGeom prst="roundRect">
            <a:avLst/>
          </a:prstGeom>
          <a:solidFill>
            <a:srgbClr val="403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2670048" y="7406640"/>
            <a:ext cx="4535424" cy="11201400"/>
          </a:xfrm>
          <a:prstGeom prst="roundRect">
            <a:avLst/>
          </a:prstGeom>
          <a:solidFill>
            <a:srgbClr val="FFFBF0"/>
          </a:solidFill>
          <a:ln w="15240">
            <a:solidFill>
              <a:srgbClr val="D3B5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962656" y="7754112"/>
            <a:ext cx="3950208" cy="4389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500" b="1">
                <a:solidFill>
                  <a:srgbClr val="74541F"/>
                </a:solidFill>
                <a:latin typeface="Noto Sans JP"/>
              </a:rPr>
              <a:t>AIサービス・モデル選択画面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2962656" y="8321040"/>
            <a:ext cx="3950208" cy="0"/>
          </a:xfrm>
          <a:prstGeom prst="line">
            <a:avLst/>
          </a:prstGeom>
          <a:ln w="20320">
            <a:solidFill>
              <a:srgbClr val="A57C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2962656" y="8741664"/>
            <a:ext cx="3950208" cy="1170432"/>
          </a:xfrm>
          <a:prstGeom prst="roundRect">
            <a:avLst/>
          </a:prstGeom>
          <a:solidFill>
            <a:srgbClr val="F7EEDA"/>
          </a:solidFill>
          <a:ln w="15875">
            <a:solidFill>
              <a:srgbClr val="A57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200400" y="8942832"/>
            <a:ext cx="3474720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74541F"/>
                </a:solidFill>
                <a:latin typeface="Noto Sans JP"/>
              </a:rPr>
              <a:t>LLM provider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00400" y="9272016"/>
            <a:ext cx="3474720" cy="5669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30271F"/>
                </a:solidFill>
                <a:latin typeface="Noto Sans JP"/>
              </a:rPr>
              <a:t>Gemini / OpenAI / Claude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962656" y="10168128"/>
            <a:ext cx="3950208" cy="1170432"/>
          </a:xfrm>
          <a:prstGeom prst="roundRect">
            <a:avLst/>
          </a:prstGeom>
          <a:solidFill>
            <a:srgbClr val="F7EEDA"/>
          </a:solidFill>
          <a:ln w="15875">
            <a:solidFill>
              <a:srgbClr val="A57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200400" y="10369296"/>
            <a:ext cx="3474720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74541F"/>
                </a:solidFill>
                <a:latin typeface="Noto Sans JP"/>
              </a:rPr>
              <a:t>Model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200400" y="10698480"/>
            <a:ext cx="3474720" cy="5669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30271F"/>
                </a:solidFill>
                <a:latin typeface="Noto Sans JP"/>
              </a:rPr>
              <a:t>会話品質や費用感で選択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962656" y="11594592"/>
            <a:ext cx="3950208" cy="1170432"/>
          </a:xfrm>
          <a:prstGeom prst="roundRect">
            <a:avLst/>
          </a:prstGeom>
          <a:solidFill>
            <a:srgbClr val="F7EEDA"/>
          </a:solidFill>
          <a:ln w="15875">
            <a:solidFill>
              <a:srgbClr val="A57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200400" y="11795760"/>
            <a:ext cx="3474720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74541F"/>
                </a:solidFill>
                <a:latin typeface="Noto Sans JP"/>
              </a:rPr>
              <a:t>API key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200400" y="12124944"/>
            <a:ext cx="3474720" cy="5669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30271F"/>
                </a:solidFill>
                <a:latin typeface="Noto Sans JP"/>
              </a:rPr>
              <a:t>対応AIサービスのAPIキーを入力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090672" y="16989552"/>
            <a:ext cx="3694176" cy="530352"/>
          </a:xfrm>
          <a:prstGeom prst="roundRect">
            <a:avLst/>
          </a:prstGeom>
          <a:solidFill>
            <a:srgbClr val="EEE1C1"/>
          </a:solidFill>
          <a:ln w="12700">
            <a:solidFill>
              <a:srgbClr val="A57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383280" y="17126712"/>
            <a:ext cx="310896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5F4F3D"/>
                </a:solidFill>
                <a:latin typeface="Noto Sans JP"/>
              </a:rPr>
              <a:t>ここに実画面スクショを差し替え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8368" y="15800832"/>
            <a:ext cx="7498079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5F4F3D"/>
                </a:solidFill>
                <a:latin typeface="Noto Sans JP"/>
              </a:rPr>
              <a:t>利用には対応AIサービスのAPIキーが必要です。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58368" y="16550640"/>
            <a:ext cx="3931920" cy="530352"/>
          </a:xfrm>
          <a:prstGeom prst="roundRect">
            <a:avLst/>
          </a:prstGeom>
          <a:solidFill>
            <a:srgbClr val="FFF9E8"/>
          </a:solidFill>
          <a:ln w="20320">
            <a:solidFill>
              <a:srgbClr val="7454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77824" y="16669512"/>
            <a:ext cx="3493008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2000" b="1">
                <a:solidFill>
                  <a:srgbClr val="30271F"/>
                </a:solidFill>
                <a:latin typeface="Noto Sans JP"/>
              </a:rPr>
              <a:t>会話履歴は原則端末内に保存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