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875520" cy="17556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1_left">
    <p:spTree>
      <p:nvGrpSpPr>
        <p:cNvPr id="1" name=""/>
        <p:cNvGrpSpPr/>
        <p:nvPr/>
      </p:nvGrpSpPr>
      <p:grpSpPr/>
      <p:pic>
        <p:nvPicPr>
          <p:cNvPr id="2" name="Picture 1" descr="feature-panorama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751040" cy="1755648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1338560" y="3337560"/>
            <a:ext cx="603504" cy="0"/>
          </a:xfrm>
          <a:prstGeom prst="line">
            <a:avLst/>
          </a:prstGeom>
          <a:ln w="254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15800" y="4617720"/>
            <a:ext cx="804672" cy="0"/>
          </a:xfrm>
          <a:prstGeom prst="line">
            <a:avLst/>
          </a:prstGeom>
          <a:ln w="25400">
            <a:solidFill>
              <a:srgbClr val="E89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0" y="5852160"/>
            <a:ext cx="658368" cy="0"/>
          </a:xfrm>
          <a:prstGeom prst="line">
            <a:avLst/>
          </a:prstGeom>
          <a:ln w="25400">
            <a:solidFill>
              <a:srgbClr val="A1B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642080" y="1517904"/>
            <a:ext cx="1207008" cy="0"/>
          </a:xfrm>
          <a:prstGeom prst="line">
            <a:avLst/>
          </a:prstGeom>
          <a:ln w="254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1967" y="1037082"/>
            <a:ext cx="4004071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8F5EB"/>
                </a:solidFill>
                <a:latin typeface="Noto Serif JP"/>
              </a:rPr>
              <a:t>BYOKey Speak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54505"/>
            <a:ext cx="666586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DBC16F"/>
                </a:solidFill>
                <a:latin typeface="Noto Sans JP"/>
              </a:rPr>
              <a:t>AI英会話は、“Bring Your Own Key”で新たな体験へ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60976"/>
            <a:ext cx="8229600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8F5EB"/>
                </a:solidFill>
                <a:latin typeface="Noto Sans JP"/>
              </a:rPr>
              <a:t>英語で話す。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094348"/>
            <a:ext cx="7771953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8F5EB"/>
                </a:solidFill>
                <a:latin typeface="Noto Sans JP"/>
              </a:rPr>
              <a:t>言葉に詰まっても、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7877428"/>
            <a:ext cx="7772400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89784"/>
                </a:solidFill>
                <a:latin typeface="Noto Sans JP"/>
              </a:rPr>
              <a:t>日本語で聞ける。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0058081"/>
            <a:ext cx="6908303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D2C296"/>
                </a:solidFill>
                <a:latin typeface="Noto Sans JP"/>
              </a:rPr>
              <a:t>話し方も、教え方も、自分好みに。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9239250"/>
            <a:ext cx="6493002" cy="0"/>
          </a:xfrm>
          <a:prstGeom prst="line">
            <a:avLst/>
          </a:prstGeom>
          <a:ln w="635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" y="11505881"/>
            <a:ext cx="7772400" cy="1946403"/>
          </a:xfrm>
          <a:prstGeom prst="roundRect">
            <a:avLst/>
          </a:prstGeom>
          <a:solidFill>
            <a:srgbClr val="1D324E"/>
          </a:solidFill>
          <a:ln w="19050">
            <a:solidFill>
              <a:srgbClr val="B9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11905931"/>
            <a:ext cx="7315200" cy="1374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100" b="1">
                <a:solidFill>
                  <a:srgbClr val="F8F5EB"/>
                </a:solidFill>
                <a:latin typeface="Noto Sans JP"/>
              </a:rPr>
              <a:t>アプリは買い切り、</a:t>
            </a:r>
          </a:p>
          <a:p>
            <a:pPr algn="ctr"/>
            <a:r>
              <a:rPr sz="3100" b="1">
                <a:solidFill>
                  <a:srgbClr val="F8F5EB"/>
                </a:solidFill>
                <a:latin typeface="Noto Sans JP"/>
              </a:rPr>
              <a:t>毎月の費用は使った分だけ</a:t>
            </a:r>
          </a:p>
        </p:txBody>
      </p:sp>
      <p:pic>
        <p:nvPicPr>
          <p:cNvPr id="16" name="Picture 15" descr="assets-keyhole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827" y="6833643"/>
            <a:ext cx="2739344" cy="3889192"/>
          </a:xfrm>
          <a:prstGeom prst="rect">
            <a:avLst/>
          </a:prstGeom>
        </p:spPr>
      </p:pic>
      <p:pic>
        <p:nvPicPr>
          <p:cNvPr id="17" name="Picture 16" descr="1-Photo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7284" y="-192405"/>
            <a:ext cx="8023098" cy="180418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2_right">
    <p:spTree>
      <p:nvGrpSpPr>
        <p:cNvPr id="1" name=""/>
        <p:cNvGrpSpPr/>
        <p:nvPr/>
      </p:nvGrpSpPr>
      <p:grpSpPr/>
      <p:pic>
        <p:nvPicPr>
          <p:cNvPr id="2" name="Picture 1" descr="feature-panorama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75520" y="0"/>
            <a:ext cx="19751040" cy="1755648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463040" y="3337560"/>
            <a:ext cx="603503" cy="0"/>
          </a:xfrm>
          <a:prstGeom prst="line">
            <a:avLst/>
          </a:prstGeom>
          <a:ln w="254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40280" y="4617720"/>
            <a:ext cx="804672" cy="0"/>
          </a:xfrm>
          <a:prstGeom prst="line">
            <a:avLst/>
          </a:prstGeom>
          <a:ln w="25400">
            <a:solidFill>
              <a:srgbClr val="E89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5852160"/>
            <a:ext cx="658368" cy="0"/>
          </a:xfrm>
          <a:prstGeom prst="line">
            <a:avLst/>
          </a:prstGeom>
          <a:ln w="25400">
            <a:solidFill>
              <a:srgbClr val="A1B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66560" y="1517904"/>
            <a:ext cx="1207008" cy="0"/>
          </a:xfrm>
          <a:prstGeom prst="line">
            <a:avLst/>
          </a:prstGeom>
          <a:ln w="254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9043552" y="1037082"/>
            <a:ext cx="4004071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8F5EB"/>
                </a:solidFill>
                <a:latin typeface="Noto Serif JP"/>
              </a:rPr>
              <a:t>BYOKey Speak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034272" y="1754505"/>
            <a:ext cx="666586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DBC16F"/>
                </a:solidFill>
                <a:latin typeface="Noto Sans JP"/>
              </a:rPr>
              <a:t>AI英会話は、“Bring Your Own Key”で新たな体験へ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9034272" y="4260976"/>
            <a:ext cx="8229600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8F5EB"/>
                </a:solidFill>
                <a:latin typeface="Noto Sans JP"/>
              </a:rPr>
              <a:t>英語で話す。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034272" y="6094348"/>
            <a:ext cx="7771953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8F5EB"/>
                </a:solidFill>
                <a:latin typeface="Noto Sans JP"/>
              </a:rPr>
              <a:t>言葉に詰まっても、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034272" y="7877428"/>
            <a:ext cx="7772400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89784"/>
                </a:solidFill>
                <a:latin typeface="Noto Sans JP"/>
              </a:rPr>
              <a:t>日本語で聞ける。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034272" y="10058081"/>
            <a:ext cx="6908303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D2C296"/>
                </a:solidFill>
                <a:latin typeface="Noto Sans JP"/>
              </a:rPr>
              <a:t>話し方も、教え方も、自分好みに。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-9034272" y="9239250"/>
            <a:ext cx="6493003" cy="0"/>
          </a:xfrm>
          <a:prstGeom prst="line">
            <a:avLst/>
          </a:prstGeom>
          <a:ln w="635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-9034272" y="11505881"/>
            <a:ext cx="7772400" cy="1946403"/>
          </a:xfrm>
          <a:prstGeom prst="roundRect">
            <a:avLst/>
          </a:prstGeom>
          <a:solidFill>
            <a:srgbClr val="1D324E"/>
          </a:solidFill>
          <a:ln w="19050">
            <a:solidFill>
              <a:srgbClr val="B9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-8805672" y="11905931"/>
            <a:ext cx="7315200" cy="1374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100" b="1">
                <a:solidFill>
                  <a:srgbClr val="F8F5EB"/>
                </a:solidFill>
                <a:latin typeface="Noto Sans JP"/>
              </a:rPr>
              <a:t>アプリは買い切り、</a:t>
            </a:r>
          </a:p>
          <a:p>
            <a:pPr algn="ctr"/>
            <a:r>
              <a:rPr sz="3100" b="1">
                <a:solidFill>
                  <a:srgbClr val="F8F5EB"/>
                </a:solidFill>
                <a:latin typeface="Noto Sans JP"/>
              </a:rPr>
              <a:t>毎月の費用は使った分だけ</a:t>
            </a:r>
          </a:p>
        </p:txBody>
      </p:sp>
      <p:pic>
        <p:nvPicPr>
          <p:cNvPr id="16" name="Picture 15" descr="assets-keyhole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692" y="6833643"/>
            <a:ext cx="2739344" cy="3889192"/>
          </a:xfrm>
          <a:prstGeom prst="rect">
            <a:avLst/>
          </a:prstGeom>
        </p:spPr>
      </p:pic>
      <p:pic>
        <p:nvPicPr>
          <p:cNvPr id="17" name="Picture 16" descr="1-Photo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764" y="-192405"/>
            <a:ext cx="8023098" cy="180418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