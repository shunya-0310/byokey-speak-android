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9751040" cy="17556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eature-panorama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751040" cy="1755648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9875520" y="0"/>
            <a:ext cx="0" cy="17556480"/>
          </a:xfrm>
          <a:prstGeom prst="line">
            <a:avLst/>
          </a:prstGeom>
          <a:ln w="12700">
            <a:solidFill>
              <a:srgbClr val="2639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ssets-keyhole-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841248"/>
            <a:ext cx="888797" cy="12618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960120"/>
            <a:ext cx="475488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4300" b="1">
                <a:solidFill>
                  <a:srgbClr val="F8F5EB"/>
                </a:solidFill>
                <a:latin typeface="Noto Serif JP"/>
              </a:rPr>
              <a:t>BYOKey Speak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04288" y="1499616"/>
            <a:ext cx="6309360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DBC16F"/>
                </a:solidFill>
                <a:latin typeface="Noto Sans JP"/>
              </a:rPr>
              <a:t>AI英会話は、“Bring Your Own Key”で新たな体験へ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31920"/>
            <a:ext cx="8229600" cy="1078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0" b="1">
                <a:solidFill>
                  <a:srgbClr val="F8F5EB"/>
                </a:solidFill>
                <a:latin typeface="Noto Sans JP"/>
              </a:rPr>
              <a:t>英語で話す。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212080"/>
            <a:ext cx="8778240" cy="1078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6800" b="1">
                <a:solidFill>
                  <a:srgbClr val="F8F5EB"/>
                </a:solidFill>
                <a:latin typeface="Noto Sans JP"/>
              </a:rPr>
              <a:t>言葉に詰まっても、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492240"/>
            <a:ext cx="7772400" cy="10789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E89784"/>
                </a:solidFill>
                <a:latin typeface="Noto Sans JP"/>
              </a:rPr>
              <a:t>日本語で聞ける。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7818120"/>
            <a:ext cx="6108192" cy="0"/>
          </a:xfrm>
          <a:prstGeom prst="line">
            <a:avLst/>
          </a:prstGeom>
          <a:ln w="63500">
            <a:solidFill>
              <a:srgbClr val="B9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8869680"/>
            <a:ext cx="8229600" cy="475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D2C296"/>
                </a:solidFill>
                <a:latin typeface="Noto Sans JP"/>
              </a:rPr>
              <a:t>話し方も、教え方も、自分好みに。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0131552"/>
            <a:ext cx="6492240" cy="658368"/>
          </a:xfrm>
          <a:prstGeom prst="roundRect">
            <a:avLst/>
          </a:prstGeom>
          <a:solidFill>
            <a:srgbClr val="1D324E"/>
          </a:solidFill>
          <a:ln w="19050">
            <a:solidFill>
              <a:srgbClr val="B9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10268712"/>
            <a:ext cx="594360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2500" b="1">
                <a:solidFill>
                  <a:srgbClr val="F8F5EB"/>
                </a:solidFill>
                <a:latin typeface="Noto Sans JP"/>
              </a:rPr>
              <a:t>アプリは買い切り、毎月の費用は使った分だけ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1338560" y="3337560"/>
            <a:ext cx="603504" cy="0"/>
          </a:xfrm>
          <a:prstGeom prst="line">
            <a:avLst/>
          </a:prstGeom>
          <a:ln w="25400">
            <a:solidFill>
              <a:srgbClr val="B9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115800" y="4617720"/>
            <a:ext cx="804672" cy="0"/>
          </a:xfrm>
          <a:prstGeom prst="line">
            <a:avLst/>
          </a:prstGeom>
          <a:ln w="25400">
            <a:solidFill>
              <a:srgbClr val="E89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521440" y="5852160"/>
            <a:ext cx="658368" cy="0"/>
          </a:xfrm>
          <a:prstGeom prst="line">
            <a:avLst/>
          </a:prstGeom>
          <a:ln w="25400">
            <a:solidFill>
              <a:srgbClr val="A1B1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642080" y="1517904"/>
            <a:ext cx="1207008" cy="0"/>
          </a:xfrm>
          <a:prstGeom prst="line">
            <a:avLst/>
          </a:prstGeom>
          <a:ln w="25400">
            <a:solidFill>
              <a:srgbClr val="B991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2243816" y="-128016"/>
            <a:ext cx="6720840" cy="186080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24360" y="-475488"/>
            <a:ext cx="6720840" cy="18608040"/>
          </a:xfrm>
          <a:prstGeom prst="roundRect">
            <a:avLst/>
          </a:prstGeom>
          <a:solidFill>
            <a:srgbClr val="050D19"/>
          </a:solidFill>
          <a:ln w="38100">
            <a:solidFill>
              <a:srgbClr val="B9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316968" y="-182880"/>
            <a:ext cx="6135624" cy="18022824"/>
          </a:xfrm>
          <a:prstGeom prst="roundRect">
            <a:avLst/>
          </a:prstGeom>
          <a:solidFill>
            <a:srgbClr val="0A192C"/>
          </a:solidFill>
          <a:ln w="19050">
            <a:solidFill>
              <a:srgbClr val="B99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eature-panorama-phone-sc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0" y="54864"/>
            <a:ext cx="5715000" cy="278716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1248" y="15453359"/>
            <a:ext cx="6858000" cy="4023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758B6D"/>
                </a:solidFill>
                <a:latin typeface="Noto Sans JP"/>
              </a:rPr>
              <a:t>英語だけで頑張らなくていい。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15928848"/>
            <a:ext cx="7132320" cy="3840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D2C296"/>
                </a:solidFill>
                <a:latin typeface="Noto Sans JP"/>
              </a:rPr>
              <a:t>会話の途中で、先生に相談するように聞ける。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